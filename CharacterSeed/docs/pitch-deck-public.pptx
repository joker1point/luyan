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400" b="1">
                <a:solidFill>
                  <a:srgbClr val="FFFFFF"/>
                </a:solidFill>
                <a:latin typeface="Source Han Sans CN"/>
                <a:ea typeface="Source Han Sans CN"/>
              </a:rPr>
              <a:t>CharacterSeed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0">
                <a:solidFill>
                  <a:srgbClr val="00D4FF"/>
                </a:solidFill>
                <a:latin typeface="Source Han Sans CN"/>
                <a:ea typeface="Source Han Sans CN"/>
              </a:rPr>
              <a:t>让 AI 角色"记得你 90 天"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6E6E73"/>
                </a:solidFill>
                <a:latin typeface="Source Han Sans CN"/>
                <a:ea typeface="Source Han Sans CN"/>
              </a:rPr>
              <a:t>Memory Engine for AI Companions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D2D2D7"/>
                </a:solidFill>
                <a:latin typeface="Source Han Sans CN"/>
                <a:ea typeface="Source Han Sans CN"/>
              </a:rPr>
              <a:t>luyan project team  ·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ource Han Sans CN"/>
                <a:ea typeface="Source Han Sans CN"/>
              </a:rPr>
              <a:t>95% 的 AI 角色，玩 10 轮就失忆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4572000"/>
          </a:xfrm>
          <a:prstGeom prst="round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3B30"/>
                </a:solidFill>
                <a:latin typeface="Source Han Sans CN"/>
                <a:ea typeface="Source Han Sans CN"/>
              </a:rPr>
              <a:t>🔴  传统 LLM NPC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2D2D7"/>
                </a:solidFill>
                <a:latin typeface="Source Han Sans CN"/>
                <a:ea typeface="Source Han Sans CN"/>
              </a:rPr>
              <a:t>用户：你还记得我吗？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Source Han Sans CN"/>
                <a:ea typeface="Source Han Sans CN"/>
              </a:rPr>
              <a:t>NPC：抱歉，我不太了解你……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D2D2D7"/>
                </a:solidFill>
                <a:latin typeface="Source Han Sans CN"/>
                <a:ea typeface="Source Han Sans CN"/>
              </a:rPr>
              <a:t>Token / 轮：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3B30"/>
                </a:solidFill>
                <a:latin typeface="Source Han Sans CN"/>
                <a:ea typeface="Source Han Sans CN"/>
              </a:rPr>
              <a:t>30,000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4632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D2D2D7"/>
                </a:solidFill>
                <a:latin typeface="Source Han Sans CN"/>
                <a:ea typeface="Source Han Sans CN"/>
              </a:rPr>
              <a:t>成本 / 月活：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1208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3B30"/>
                </a:solidFill>
                <a:latin typeface="Source Han Sans CN"/>
                <a:ea typeface="Source Han Sans CN"/>
              </a:rPr>
              <a:t>~$0.30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371600"/>
            <a:ext cx="5486400" cy="4572000"/>
          </a:xfrm>
          <a:prstGeom prst="roundRect">
            <a:avLst/>
          </a:prstGeom>
          <a:solidFill>
            <a:srgbClr val="1A2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5544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4C759"/>
                </a:solidFill>
                <a:latin typeface="Source Han Sans CN"/>
                <a:ea typeface="Source Han Sans CN"/>
              </a:rPr>
              <a:t>🟢  CharacterSeed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19456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2D2D7"/>
                </a:solidFill>
                <a:latin typeface="Source Han Sans CN"/>
                <a:ea typeface="Source Han Sans CN"/>
              </a:rPr>
              <a:t>用户：你还记得我吗？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651760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Source Han Sans CN"/>
                <a:ea typeface="Source Han Sans CN"/>
              </a:rPr>
              <a:t>"你喜欢的还是不加糖的拿铁吧？
今天又加班到这个点？"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36576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D2D2D7"/>
                </a:solidFill>
                <a:latin typeface="Source Han Sans CN"/>
                <a:ea typeface="Source Han Sans CN"/>
              </a:rPr>
              <a:t>Token / 轮：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402336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34C759"/>
                </a:solidFill>
                <a:latin typeface="Source Han Sans CN"/>
                <a:ea typeface="Source Han Sans CN"/>
              </a:rPr>
              <a:t>3,000  ⬇ 省 90%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484632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D2D2D7"/>
                </a:solidFill>
                <a:latin typeface="Source Han Sans CN"/>
                <a:ea typeface="Source Han Sans CN"/>
              </a:rPr>
              <a:t>成本 / 月活：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521208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34C759"/>
                </a:solidFill>
                <a:latin typeface="Source Han Sans CN"/>
                <a:ea typeface="Source Han Sans CN"/>
              </a:rPr>
              <a:t>~$0.03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D4FF"/>
                </a:solidFill>
                <a:latin typeface="Source Han Sans CN"/>
                <a:ea typeface="Source Han Sans CN"/>
              </a:rPr>
              <a:t>ChatGPT 让 AI 学会'说话'，我们让 AI 学会'记住'。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D2D2D7"/>
                </a:solidFill>
                <a:latin typeface="Source Han Sans CN"/>
                <a:ea typeface="Source Han Sans CN"/>
              </a:rPr>
              <a:t>02 / 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E6E73"/>
                </a:solidFill>
                <a:latin typeface="Source Han Sans CN"/>
                <a:ea typeface="Source Han Sans CN"/>
              </a:rPr>
              <a:t>CharacterSeed · 让 AI 角色'记得你 90 天'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A1628"/>
                </a:solidFill>
                <a:latin typeface="Source Han Sans CN"/>
                <a:ea typeface="Source Han Sans CN"/>
              </a:rPr>
              <a:t>5 维对比：传统 vs CharacterSeed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E6E73"/>
                </a:solidFill>
                <a:latin typeface="Source Han Sans CN"/>
                <a:ea typeface="Source Han Sans CN"/>
              </a:rPr>
              <a:t>数字会说话：用 3k tokens 干 30k 的活，效果反而更好。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3200400" cy="6400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3200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ource Han Sans CN"/>
                <a:ea typeface="Source Han Sans CN"/>
              </a:rPr>
              <a:t>维度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554480"/>
            <a:ext cx="3657600" cy="6400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554480"/>
            <a:ext cx="3657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ource Han Sans CN"/>
                <a:ea typeface="Source Han Sans CN"/>
              </a:rPr>
              <a:t>🔴 传统 LLM NPC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554480"/>
            <a:ext cx="4572000" cy="6400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554480"/>
            <a:ext cx="4572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ource Han Sans CN"/>
                <a:ea typeface="Source Han Sans CN"/>
              </a:rPr>
              <a:t>🟢 CharacterSeed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32004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3200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1D1D1F"/>
                </a:solidFill>
                <a:latin typeface="Source Han Sans CN"/>
                <a:ea typeface="Source Han Sans CN"/>
              </a:rPr>
              <a:t>记忆深度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2194560"/>
            <a:ext cx="36576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194560"/>
            <a:ext cx="3657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3B30"/>
                </a:solidFill>
                <a:latin typeface="Source Han Sans CN"/>
                <a:ea typeface="Source Han Sans CN"/>
              </a:rPr>
              <a:t>≤ 10 轮对话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2194560"/>
            <a:ext cx="45720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2194560"/>
            <a:ext cx="4572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4C759"/>
                </a:solidFill>
                <a:latin typeface="Source Han Sans CN"/>
                <a:ea typeface="Source Han Sans CN"/>
              </a:rPr>
              <a:t>90 天+ 跨会话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71800"/>
            <a:ext cx="3200400" cy="77724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71800"/>
            <a:ext cx="3200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1D1D1F"/>
                </a:solidFill>
                <a:latin typeface="Source Han Sans CN"/>
                <a:ea typeface="Source Han Sans CN"/>
              </a:rPr>
              <a:t>Token / 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2971800"/>
            <a:ext cx="3657600" cy="77724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2971800"/>
            <a:ext cx="3657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3B30"/>
                </a:solidFill>
                <a:latin typeface="Source Han Sans CN"/>
                <a:ea typeface="Source Han Sans CN"/>
              </a:rPr>
              <a:t>~30,000（全历史）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2971800"/>
            <a:ext cx="4572000" cy="77724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2971800"/>
            <a:ext cx="4572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4C759"/>
                </a:solidFill>
                <a:latin typeface="Source Han Sans CN"/>
                <a:ea typeface="Source Han Sans CN"/>
              </a:rPr>
              <a:t>~3,000（衰减+摘要）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49040"/>
            <a:ext cx="32004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749040"/>
            <a:ext cx="3200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1D1D1F"/>
                </a:solidFill>
                <a:latin typeface="Source Han Sans CN"/>
                <a:ea typeface="Source Han Sans CN"/>
              </a:rPr>
              <a:t>情感一致性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3749040"/>
            <a:ext cx="36576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749040"/>
            <a:ext cx="3657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3B30"/>
                </a:solidFill>
                <a:latin typeface="Source Han Sans CN"/>
                <a:ea typeface="Source Han Sans CN"/>
              </a:rPr>
              <a:t>无 / 随口回应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3749040"/>
            <a:ext cx="45720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0" y="3749040"/>
            <a:ext cx="4572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4C759"/>
                </a:solidFill>
                <a:latin typeface="Source Han Sans CN"/>
                <a:ea typeface="Source Han Sans CN"/>
              </a:rPr>
              <a:t>5 轴情感 + 衰减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526280"/>
            <a:ext cx="3200400" cy="77724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526280"/>
            <a:ext cx="3200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1D1D1F"/>
                </a:solidFill>
                <a:latin typeface="Source Han Sans CN"/>
                <a:ea typeface="Source Han Sans CN"/>
              </a:rPr>
              <a:t>跨会话能力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4526280"/>
            <a:ext cx="3657600" cy="77724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0" y="4526280"/>
            <a:ext cx="3657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3B30"/>
                </a:solidFill>
                <a:latin typeface="Source Han Sans CN"/>
                <a:ea typeface="Source Han Sans CN"/>
              </a:rPr>
              <a:t>❌ 每次重置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4526280"/>
            <a:ext cx="4572000" cy="77724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0" y="4526280"/>
            <a:ext cx="4572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4C759"/>
                </a:solidFill>
                <a:latin typeface="Source Han Sans CN"/>
                <a:ea typeface="Source Han Sans CN"/>
              </a:rPr>
              <a:t>✅ 永久存储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303520"/>
            <a:ext cx="32004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303520"/>
            <a:ext cx="3200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1D1D1F"/>
                </a:solidFill>
                <a:latin typeface="Source Han Sans CN"/>
                <a:ea typeface="Source Han Sans CN"/>
              </a:rPr>
              <a:t>成本 / 月活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0" y="5303520"/>
            <a:ext cx="36576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0" y="5303520"/>
            <a:ext cx="3657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3B30"/>
                </a:solidFill>
                <a:latin typeface="Source Han Sans CN"/>
                <a:ea typeface="Source Han Sans CN"/>
              </a:rPr>
              <a:t>~$0.30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0" y="5303520"/>
            <a:ext cx="45720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0" y="5303520"/>
            <a:ext cx="4572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4C759"/>
                </a:solidFill>
                <a:latin typeface="Source Han Sans CN"/>
                <a:ea typeface="Source Han Sans CN"/>
              </a:rPr>
              <a:t>~$0.03  省 90%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D2D2D7"/>
                </a:solidFill>
                <a:latin typeface="Source Han Sans CN"/>
                <a:ea typeface="Source Han Sans CN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ource Han Sans CN"/>
                <a:ea typeface="Source Han Sans CN"/>
              </a:rPr>
              <a:t>3+1 架构：四层记忆协同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E6E73"/>
                </a:solidFill>
                <a:latin typeface="Source Han Sans CN"/>
                <a:ea typeface="Source Han Sans CN"/>
              </a:rPr>
              <a:t>L1 不删 / L2 摘要 / L3 软淘汰，情感引擎异步演化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303520" cy="2286000"/>
          </a:xfrm>
          <a:prstGeom prst="roundRect">
            <a:avLst/>
          </a:prstGeom>
          <a:solidFill>
            <a:srgbClr val="1A1F2E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0D4FF"/>
                </a:solidFill>
                <a:latin typeface="Source Han Sans CN"/>
                <a:ea typeface="Source Han Sans CN"/>
              </a:rPr>
              <a:t>🧠  L1 短期记忆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4937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Source Han Sans CN"/>
                <a:ea typeface="Source Han Sans CN"/>
              </a:rPr>
              <a:t>10 轮对话
LangChain
&lt; 1ms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303520" cy="2286000"/>
          </a:xfrm>
          <a:prstGeom prst="roundRect">
            <a:avLst/>
          </a:prstGeom>
          <a:solidFill>
            <a:srgbClr val="1A1F2E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6B35"/>
                </a:solidFill>
                <a:latin typeface="Source Han Sans CN"/>
                <a:ea typeface="Source Han Sans CN"/>
              </a:rPr>
              <a:t>💾  L2 长期记忆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377440"/>
            <a:ext cx="4937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Source Han Sans CN"/>
                <a:ea typeface="Source Han Sans CN"/>
              </a:rPr>
              <a:t>90 天跨会话
Ebbinghaus 主题差异化
智能压缩 90%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14800"/>
            <a:ext cx="5303520" cy="2286000"/>
          </a:xfrm>
          <a:prstGeom prst="roundRect">
            <a:avLst/>
          </a:prstGeom>
          <a:solidFill>
            <a:srgbClr val="1A1F2E"/>
          </a:solidFill>
          <a:ln w="25400">
            <a:solidFill>
              <a:srgbClr val="34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4C759"/>
                </a:solidFill>
                <a:latin typeface="Source Han Sans CN"/>
                <a:ea typeface="Source Han Sans CN"/>
              </a:rPr>
              <a:t>📚  L3 知识库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46320"/>
            <a:ext cx="4937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Source Han Sans CN"/>
                <a:ea typeface="Source Han Sans CN"/>
              </a:rPr>
              <a:t>Cognee RAG
图+向量
200ms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114800"/>
            <a:ext cx="5303520" cy="2286000"/>
          </a:xfrm>
          <a:prstGeom prst="roundRect">
            <a:avLst/>
          </a:prstGeom>
          <a:solidFill>
            <a:srgbClr val="1A1F2E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2519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6B35"/>
                </a:solidFill>
                <a:latin typeface="Source Han Sans CN"/>
                <a:ea typeface="Source Han Sans CN"/>
              </a:rPr>
              <a:t>❤️  + 情感引擎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846320"/>
            <a:ext cx="4937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Source Han Sans CN"/>
                <a:ea typeface="Source Han Sans CN"/>
              </a:rPr>
              <a:t>jiwen 5 轴
性格演化
异步 daemon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D4FF"/>
                </a:solidFill>
                <a:latin typeface="Source Han Sans CN"/>
                <a:ea typeface="Source Han Sans CN"/>
              </a:rPr>
              <a:t>软删除而非硬删 — 用户能恢复、审计可追溯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D2D2D7"/>
                </a:solidFill>
                <a:latin typeface="Source Han Sans CN"/>
                <a:ea typeface="Source Han Sans CN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A1628"/>
                </a:solidFill>
                <a:latin typeface="Source Han Sans CN"/>
                <a:ea typeface="Source Han Sans CN"/>
              </a:rPr>
              <a:t>4 大创新：单独易抄，组合极难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731520" cy="7315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Source Han Sans CN"/>
                <a:ea typeface="Source Han Sans CN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46304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A1628"/>
                </a:solidFill>
                <a:latin typeface="Source Han Sans CN"/>
                <a:ea typeface="Source Han Sans CN"/>
              </a:rPr>
              <a:t>Ebbinghaus 主题差异化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E6E73"/>
                </a:solidFill>
                <a:latin typeface="Source Han Sans CN"/>
                <a:ea typeface="Source Han Sans CN"/>
              </a:rPr>
              <a:t>identity 365天 vs todo 1天
自动遗忘噪声，永久保留核心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097280"/>
            <a:ext cx="548640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19672" y="1371600"/>
            <a:ext cx="731520" cy="7315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37160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Source Han Sans CN"/>
                <a:ea typeface="Source Han Sans CN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4072" y="146304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A1628"/>
                </a:solidFill>
                <a:latin typeface="Source Han Sans CN"/>
                <a:ea typeface="Source Han Sans CN"/>
              </a:rPr>
              <a:t>自适应摘要触发器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37744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E6E73"/>
                </a:solidFill>
                <a:latin typeface="Source Han Sans CN"/>
                <a:ea typeface="Source Han Sans CN"/>
              </a:rPr>
              <a:t>4 条件动态触发（100/30%/7天/手动）
低 importance 快速滚，高 importance 慢慢积累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548640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3931920"/>
            <a:ext cx="731520" cy="73152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3192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Source Han Sans CN"/>
                <a:ea typeface="Source Han Sans CN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02336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A1628"/>
                </a:solidFill>
                <a:latin typeface="Source Han Sans CN"/>
                <a:ea typeface="Source Han Sans CN"/>
              </a:rPr>
              <a:t>jiwen 5 轴情感引擎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3776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E6E73"/>
                </a:solidFill>
                <a:latin typeface="Source Han Sans CN"/>
                <a:ea typeface="Source Han Sans CN"/>
              </a:rPr>
              <a:t>connection/pride/valence/arousal/immersion
从'被动应答'到'主动陪伴'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657600"/>
            <a:ext cx="548640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3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19672" y="3931920"/>
            <a:ext cx="731520" cy="731520"/>
          </a:xfrm>
          <a:prstGeom prst="ellipse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393192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Source Han Sans CN"/>
                <a:ea typeface="Source Han Sans CN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4072" y="402336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A1628"/>
                </a:solidFill>
                <a:latin typeface="Source Han Sans CN"/>
                <a:ea typeface="Source Han Sans CN"/>
              </a:rPr>
              <a:t>零模板注入策略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493776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E6E73"/>
                </a:solidFill>
                <a:latin typeface="Source Han Sans CN"/>
                <a:ea typeface="Source Han Sans CN"/>
              </a:rPr>
              <a:t>5 轴/世界/关系塞进 current_state._xxx
换 GPT/Claude/Qwen 改一行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D2D2D7"/>
                </a:solidFill>
                <a:latin typeface="Source Han Sans CN"/>
                <a:ea typeface="Source Han Sans CN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ource Han Sans CN"/>
                <a:ea typeface="Source Han Sans CN"/>
              </a:rPr>
              <a:t>成本杀手：3 件事省 90%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3657600" cy="201168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3657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600" b="1">
                <a:solidFill>
                  <a:srgbClr val="0A1628"/>
                </a:solidFill>
                <a:latin typeface="Source Han Sans CN"/>
                <a:ea typeface="Source Han Sans CN"/>
              </a:rPr>
              <a:t>省 90%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A1628"/>
                </a:solidFill>
                <a:latin typeface="Source Han Sans CN"/>
                <a:ea typeface="Source Han Sans CN"/>
              </a:rPr>
              <a:t>Token / 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0A1628"/>
                </a:solidFill>
                <a:latin typeface="Source Han Sans CN"/>
                <a:ea typeface="Source Han Sans CN"/>
              </a:rPr>
              <a:t>衰减压 token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80160"/>
            <a:ext cx="3657600" cy="201168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554480"/>
            <a:ext cx="3657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600" b="1">
                <a:solidFill>
                  <a:srgbClr val="0A1628"/>
                </a:solidFill>
                <a:latin typeface="Source Han Sans CN"/>
                <a:ea typeface="Source Han Sans CN"/>
              </a:rPr>
              <a:t>省 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4688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A1628"/>
                </a:solidFill>
                <a:latin typeface="Source Han Sans CN"/>
                <a:ea typeface="Source Han Sans CN"/>
              </a:rPr>
              <a:t>摘要调用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83464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0A1628"/>
                </a:solidFill>
                <a:latin typeface="Source Han Sans CN"/>
                <a:ea typeface="Source Han Sans CN"/>
              </a:rPr>
              <a:t>自适应触发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280160"/>
            <a:ext cx="3657600" cy="201168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554480"/>
            <a:ext cx="3657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600" b="1">
                <a:solidFill>
                  <a:srgbClr val="0A1628"/>
                </a:solidFill>
                <a:latin typeface="Source Han Sans CN"/>
                <a:ea typeface="Source Han Sans CN"/>
              </a:rPr>
              <a:t>&lt; 800ms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4688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A1628"/>
                </a:solidFill>
                <a:latin typeface="Source Han Sans CN"/>
                <a:ea typeface="Source Han Sans CN"/>
              </a:rPr>
              <a:t>响应延迟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83464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0A1628"/>
                </a:solidFill>
                <a:latin typeface="Source Han Sans CN"/>
                <a:ea typeface="Source Han Sans CN"/>
              </a:rPr>
              <a:t>异步不阻塞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Source Han Sans CN"/>
                <a:ea typeface="Source Han Sans CN"/>
              </a:rPr>
              <a:t>5 维成本对比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114800"/>
            <a:ext cx="3200400" cy="457200"/>
          </a:xfrm>
          <a:prstGeom prst="rect">
            <a:avLst/>
          </a:prstGeom>
          <a:solidFill>
            <a:srgbClr val="6E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14800"/>
            <a:ext cx="3200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ource Han Sans CN"/>
                <a:ea typeface="Source Han Sans CN"/>
              </a:rPr>
              <a:t>场景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4114800"/>
            <a:ext cx="4114800" cy="457200"/>
          </a:xfrm>
          <a:prstGeom prst="rect">
            <a:avLst/>
          </a:prstGeom>
          <a:solidFill>
            <a:srgbClr val="6E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4114800"/>
            <a:ext cx="4114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ource Han Sans CN"/>
                <a:ea typeface="Source Han Sans CN"/>
              </a:rPr>
              <a:t>传统方案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4114800"/>
            <a:ext cx="4114800" cy="457200"/>
          </a:xfrm>
          <a:prstGeom prst="rect">
            <a:avLst/>
          </a:prstGeom>
          <a:solidFill>
            <a:srgbClr val="6E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114800"/>
            <a:ext cx="4114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ource Han Sans CN"/>
                <a:ea typeface="Source Han Sans CN"/>
              </a:rPr>
              <a:t>CharacterSeed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572000"/>
            <a:ext cx="3200400" cy="41148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572000"/>
            <a:ext cx="3200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D2D2D7"/>
                </a:solidFill>
                <a:latin typeface="Source Han Sans CN"/>
                <a:ea typeface="Source Han Sans CN"/>
              </a:rPr>
              <a:t>单轮 LLM 调用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572000"/>
            <a:ext cx="4114800" cy="41148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4572000"/>
            <a:ext cx="4114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D2D2D7"/>
                </a:solidFill>
                <a:latin typeface="Source Han Sans CN"/>
                <a:ea typeface="Source Han Sans CN"/>
              </a:rPr>
              <a:t>2 次（Director+Actor）+ 1 次重述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4572000"/>
            <a:ext cx="4114800" cy="41148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4572000"/>
            <a:ext cx="4114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34C759"/>
                </a:solidFill>
                <a:latin typeface="Source Han Sans CN"/>
                <a:ea typeface="Source Han Sans CN"/>
              </a:rPr>
              <a:t>2 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983480"/>
            <a:ext cx="3200400" cy="41148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983480"/>
            <a:ext cx="3200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D2D2D7"/>
                </a:solidFill>
                <a:latin typeface="Source Han Sans CN"/>
                <a:ea typeface="Source Han Sans CN"/>
              </a:rPr>
              <a:t>Token / 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4983480"/>
            <a:ext cx="4114800" cy="41148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0" y="4983480"/>
            <a:ext cx="4114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D2D2D7"/>
                </a:solidFill>
                <a:latin typeface="Source Han Sans CN"/>
                <a:ea typeface="Source Han Sans CN"/>
              </a:rPr>
              <a:t>30,000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0" y="4983480"/>
            <a:ext cx="4114800" cy="41148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4983480"/>
            <a:ext cx="4114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34C759"/>
                </a:solidFill>
                <a:latin typeface="Source Han Sans CN"/>
                <a:ea typeface="Source Han Sans CN"/>
              </a:rPr>
              <a:t>3,000  ⬇ 90%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394960"/>
            <a:ext cx="3200400" cy="41148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394960"/>
            <a:ext cx="3200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D2D2D7"/>
                </a:solidFill>
                <a:latin typeface="Source Han Sans CN"/>
                <a:ea typeface="Source Han Sans CN"/>
              </a:rPr>
              <a:t>摘要调用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0" y="5394960"/>
            <a:ext cx="4114800" cy="41148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0" y="5394960"/>
            <a:ext cx="4114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D2D2D7"/>
                </a:solidFill>
                <a:latin typeface="Source Han Sans CN"/>
                <a:ea typeface="Source Han Sans CN"/>
              </a:rPr>
              <a:t>固定 50 条触发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0" y="5394960"/>
            <a:ext cx="4114800" cy="41148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0" y="5394960"/>
            <a:ext cx="4114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34C759"/>
                </a:solidFill>
                <a:latin typeface="Source Han Sans CN"/>
                <a:ea typeface="Source Han Sans CN"/>
              </a:rPr>
              <a:t>20-100 自适应  ⬇ 40%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806440"/>
            <a:ext cx="3200400" cy="41148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806440"/>
            <a:ext cx="3200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D2D2D7"/>
                </a:solidFill>
                <a:latin typeface="Source Han Sans CN"/>
                <a:ea typeface="Source Han Sans CN"/>
              </a:rPr>
              <a:t>记忆提取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0" y="5806440"/>
            <a:ext cx="4114800" cy="41148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0" y="5806440"/>
            <a:ext cx="4114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D2D2D7"/>
                </a:solidFill>
                <a:latin typeface="Source Han Sans CN"/>
                <a:ea typeface="Source Han Sans CN"/>
              </a:rPr>
              <a:t>同步阻塞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0" y="5806440"/>
            <a:ext cx="4114800" cy="41148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0" y="5806440"/>
            <a:ext cx="4114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34C759"/>
                </a:solidFill>
                <a:latin typeface="Source Han Sans CN"/>
                <a:ea typeface="Source Han Sans CN"/>
              </a:rPr>
              <a:t>异步 daemon  0ms 阻塞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6217920"/>
            <a:ext cx="3200400" cy="41148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217920"/>
            <a:ext cx="3200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D2D2D7"/>
                </a:solidFill>
                <a:latin typeface="Source Han Sans CN"/>
                <a:ea typeface="Source Han Sans CN"/>
              </a:rPr>
              <a:t>背景线程数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0" y="6217920"/>
            <a:ext cx="4114800" cy="41148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0" y="6217920"/>
            <a:ext cx="4114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D2D2D7"/>
                </a:solidFill>
                <a:latin typeface="Source Han Sans CN"/>
                <a:ea typeface="Source Han Sans CN"/>
              </a:rPr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72400" y="6217920"/>
            <a:ext cx="4114800" cy="41148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0" y="6217920"/>
            <a:ext cx="4114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34C759"/>
                </a:solidFill>
                <a:latin typeface="Source Han Sans CN"/>
                <a:ea typeface="Source Han Sans CN"/>
              </a:rPr>
              <a:t>3（jiwen+decay+summary 并行）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D2D2D7"/>
                </a:solidFill>
                <a:latin typeface="Source Han Sans CN"/>
                <a:ea typeface="Source Han Sans CN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ource Han Sans CN"/>
                <a:ea typeface="Source Han Sans CN"/>
              </a:rPr>
              <a:t>现场演示：7 天后，它还记得你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6858000" cy="5029200"/>
          </a:xfrm>
          <a:prstGeom prst="round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858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6E6E73"/>
                </a:solidFill>
                <a:latin typeface="Source Han Sans CN"/>
                <a:ea typeface="Source Han Sans CN"/>
              </a:rPr>
              <a:t>  📱 对话截图（实操）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828800"/>
            <a:ext cx="3017520" cy="91440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1828800"/>
            <a:ext cx="3017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>
                <a:solidFill>
                  <a:srgbClr val="0A1628"/>
                </a:solidFill>
                <a:latin typeface="Source Han Sans CN"/>
                <a:ea typeface="Source Han Sans CN"/>
              </a:rPr>
              <a:t>你还记得我吗？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4114800" cy="91440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4114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A1628"/>
                </a:solidFill>
                <a:latin typeface="Source Han Sans CN"/>
                <a:ea typeface="Source Han Sans CN"/>
              </a:rPr>
              <a:t>"你喜欢的还是不加糖的拿铁吧？
今天又加班到这个点？
上次你说周三最累……"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3840480"/>
            <a:ext cx="3017520" cy="91440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3840480"/>
            <a:ext cx="3017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>
                <a:solidFill>
                  <a:srgbClr val="0A1628"/>
                </a:solidFill>
                <a:latin typeface="Source Han Sans CN"/>
                <a:ea typeface="Source Han Sans CN"/>
              </a:rPr>
              <a:t>记得这么清楚！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46320"/>
            <a:ext cx="4114800" cy="91440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4114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A1628"/>
                </a:solidFill>
                <a:latin typeface="Source Han Sans CN"/>
                <a:ea typeface="Source Han Sans CN"/>
              </a:rPr>
              <a:t>当然呀 ☕  你的事我都记着呢。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1188720"/>
            <a:ext cx="4114800" cy="5029200"/>
          </a:xfrm>
          <a:prstGeom prst="round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1188720"/>
            <a:ext cx="4114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6E6E73"/>
                </a:solidFill>
                <a:latin typeface="Source Han Sans CN"/>
                <a:ea typeface="Source Han Sans CN"/>
              </a:rPr>
              <a:t>  📊 数据库 / jiwen 实时浮窗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182880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  <a:latin typeface="Source Han Sans CN"/>
                <a:ea typeface="Source Han Sans CN"/>
              </a:rPr>
              <a:t>Memory 表（memories）：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194560"/>
            <a:ext cx="3749039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Source Han Sans CN"/>
                <a:ea typeface="Source Han Sans CN"/>
              </a:rPr>
              <a:t>content: "用户喜欢不加糖的拿铁"
importance: 8
theme: "taste"
strength: 7.2（衰减 7 天）
half_life_days: 90
recall_count: 1
forgotten: 0
created_at: 7 天前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20624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Source Han Sans CN"/>
                <a:ea typeface="Source Han Sans CN"/>
              </a:rPr>
              <a:t>jiwen 5 轴：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572000"/>
            <a:ext cx="374903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ource Han Sans CN"/>
                <a:ea typeface="Source Han Sans CN"/>
              </a:rPr>
              <a:t>connection: 0.74 ⬆
pride:      0.32
valence:   -0.18
arousal:    0.10
immersion:  0.85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D4FF"/>
                </a:solidFill>
                <a:latin typeface="Source Han Sans CN"/>
                <a:ea typeface="Source Han Sans CN"/>
              </a:rPr>
              <a:t>7 天、3 个小时、12 分钟 —— 精确到分钟。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D2D2D7"/>
                </a:solidFill>
                <a:latin typeface="Source Han Sans CN"/>
                <a:ea typeface="Source Han Sans CN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A1628"/>
                </a:solidFill>
                <a:latin typeface="Source Han Sans CN"/>
                <a:ea typeface="Source Han Sans CN"/>
              </a:rPr>
              <a:t>4 大场景，1 套引擎 —— 核心技术可复用 90%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2468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A1628"/>
                </a:solidFill>
                <a:latin typeface="Source Han Sans CN"/>
                <a:ea typeface="Source Han Sans CN"/>
              </a:rPr>
              <a:t>🎮 游戏 NPC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6B35"/>
                </a:solidFill>
                <a:latin typeface="Source Han Sans CN"/>
                <a:ea typeface="Source Han Sans CN"/>
              </a:rPr>
              <a:t>TAM: $300B+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Source Han Sans CN"/>
                <a:ea typeface="Source Han Sans CN"/>
              </a:rPr>
              <a:t>我们：永久驻留 NPC 记住玩家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803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Source Han Sans CN"/>
                <a:ea typeface="Source Han Sans CN"/>
              </a:rPr>
              <a:t>模式：SDK 抽成 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097280"/>
            <a:ext cx="5486400" cy="2468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28016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A1628"/>
                </a:solidFill>
                <a:latin typeface="Source Han Sans CN"/>
                <a:ea typeface="Source Han Sans CN"/>
              </a:rPr>
              <a:t>💬 AI 陪伴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18745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0D4FF"/>
                </a:solidFill>
                <a:latin typeface="Source Han Sans CN"/>
                <a:ea typeface="Source Han Sans CN"/>
              </a:rPr>
              <a:t>TAM: $50B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3774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Source Han Sans CN"/>
                <a:ea typeface="Source Han Sans CN"/>
              </a:rPr>
              <a:t>我们：情感陪伴 + 长期关系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8803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Source Han Sans CN"/>
                <a:ea typeface="Source Han Sans CN"/>
              </a:rPr>
              <a:t>模式：$9.9/月订阅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5486400" cy="2468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34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A1628"/>
                </a:solidFill>
                <a:latin typeface="Source Han Sans CN"/>
                <a:ea typeface="Source Han Sans CN"/>
              </a:rPr>
              <a:t>📚 教育 / 心理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348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4C759"/>
                </a:solidFill>
                <a:latin typeface="Source Han Sans CN"/>
                <a:ea typeface="Source Han Sans CN"/>
              </a:rPr>
              <a:t>TAM: $400B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9377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Source Han Sans CN"/>
                <a:ea typeface="Source Han Sans CN"/>
              </a:rPr>
              <a:t>我们：有'人格'的虚拟老师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4068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Source Han Sans CN"/>
                <a:ea typeface="Source Han Sans CN"/>
              </a:rPr>
              <a:t>模式：B 端 SaaS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657600"/>
            <a:ext cx="5486400" cy="2468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3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384048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A1628"/>
                </a:solidFill>
                <a:latin typeface="Source Han Sans CN"/>
                <a:ea typeface="Source Han Sans CN"/>
              </a:rPr>
              <a:t>🛒 营销客服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44348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3B30"/>
                </a:solidFill>
                <a:latin typeface="Source Han Sans CN"/>
                <a:ea typeface="Source Han Sans CN"/>
              </a:rPr>
              <a:t>TAM: $500B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49377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Source Han Sans CN"/>
                <a:ea typeface="Source Han Sans CN"/>
              </a:rPr>
              <a:t>我们：有温度的售前售后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544068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Source Han Sans CN"/>
                <a:ea typeface="Source Han Sans CN"/>
              </a:rPr>
              <a:t>模式：按坐席付费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D2D2D7"/>
                </a:solidFill>
                <a:latin typeface="Source Han Sans CN"/>
                <a:ea typeface="Source Han Sans CN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ource Han Sans CN"/>
                <a:ea typeface="Source Han Sans CN"/>
              </a:rPr>
              <a:t>技术护城河：工程壁垒，不是 PPT 壁垒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90083" y="1554480"/>
            <a:ext cx="2560320" cy="3200400"/>
          </a:xfrm>
          <a:prstGeom prst="round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0083" y="18288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Source Han Sans CN"/>
                <a:ea typeface="Source Han Sans CN"/>
              </a:rPr>
              <a:t>❤️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0083" y="2377440"/>
            <a:ext cx="2560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400" b="1">
                <a:solidFill>
                  <a:srgbClr val="FFFFFF"/>
                </a:solidFill>
                <a:latin typeface="Source Han Sans CN"/>
                <a:ea typeface="Source Han Sans CN"/>
              </a:rPr>
              <a:t>446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0083" y="347472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ource Han Sans CN"/>
                <a:ea typeface="Source Han Sans CN"/>
              </a:rPr>
              <a:t>单测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0083" y="397764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Source Han Sans CN"/>
                <a:ea typeface="Source Han Sans CN"/>
              </a:rPr>
              <a:t>工程质量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40486" y="1554480"/>
            <a:ext cx="2560320" cy="3200400"/>
          </a:xfrm>
          <a:prstGeom prst="round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40486" y="18288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Source Han Sans CN"/>
                <a:ea typeface="Source Han Sans CN"/>
              </a:rPr>
              <a:t>❤️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0486" y="2377440"/>
            <a:ext cx="2560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400" b="1">
                <a:solidFill>
                  <a:srgbClr val="FFFFFF"/>
                </a:solidFill>
                <a:latin typeface="Source Han Sans CN"/>
                <a:ea typeface="Source Han Sans CN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0486" y="347472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ource Han Sans CN"/>
                <a:ea typeface="Source Han Sans CN"/>
              </a:rPr>
              <a:t>模板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0486" y="397764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Source Han Sans CN"/>
                <a:ea typeface="Source Han Sans CN"/>
              </a:rPr>
              <a:t>模型升级无成本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0889" y="1554480"/>
            <a:ext cx="2560320" cy="3200400"/>
          </a:xfrm>
          <a:prstGeom prst="round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0889" y="18288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Source Han Sans CN"/>
                <a:ea typeface="Source Han Sans CN"/>
              </a:rPr>
              <a:t>❤️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0889" y="2377440"/>
            <a:ext cx="2560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400" b="1">
                <a:solidFill>
                  <a:srgbClr val="FFFFFF"/>
                </a:solidFill>
                <a:latin typeface="Source Han Sans CN"/>
                <a:ea typeface="Source Han Sans CN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0889" y="347472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ource Han Sans CN"/>
                <a:ea typeface="Source Han Sans CN"/>
              </a:rPr>
              <a:t>离线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0889" y="397764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Source Han Sans CN"/>
                <a:ea typeface="Source Han Sans CN"/>
              </a:rPr>
              <a:t>SQLite + 本地 LLM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41292" y="1554480"/>
            <a:ext cx="2560320" cy="3200400"/>
          </a:xfrm>
          <a:prstGeom prst="round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41292" y="18288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Source Han Sans CN"/>
                <a:ea typeface="Source Han Sans CN"/>
              </a:rPr>
              <a:t>❤️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1292" y="2377440"/>
            <a:ext cx="2560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400" b="1">
                <a:solidFill>
                  <a:srgbClr val="FFFFFF"/>
                </a:solidFill>
                <a:latin typeface="Source Han Sans CN"/>
                <a:ea typeface="Source Han Sans CN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1292" y="347472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ource Han Sans CN"/>
                <a:ea typeface="Source Han Sans CN"/>
              </a:rPr>
              <a:t>创新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1292" y="397764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Source Han Sans CN"/>
                <a:ea typeface="Source Han Sans CN"/>
              </a:rPr>
              <a:t>单点易抄，系统难抄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2120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0D4FF"/>
                </a:solidFill>
                <a:latin typeface="Source Han Sans CN"/>
                <a:ea typeface="Source Han Sans CN"/>
              </a:rPr>
              <a:t>4 大创新 + 446 测试 = 2 年工程量，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0D4FF"/>
                </a:solidFill>
                <a:latin typeface="Source Han Sans CN"/>
                <a:ea typeface="Source Han Sans CN"/>
              </a:rPr>
              <a:t>抄一个少一个，组合起来抄不动。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D2D2D7"/>
                </a:solidFill>
                <a:latin typeface="Source Han Sans CN"/>
                <a:ea typeface="Source Han Sans CN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Source Han Sans CN"/>
                <a:ea typeface="Source Han Sans CN"/>
              </a:rPr>
              <a:t>扫码体验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solidFill>
                  <a:srgbClr val="00D4FF"/>
                </a:solidFill>
                <a:latin typeface="Source Han Sans CN"/>
                <a:ea typeface="Source Han Sans CN"/>
              </a:rPr>
              <a:t>它会记住你，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00D4FF"/>
                </a:solidFill>
                <a:latin typeface="Source Han Sans CN"/>
                <a:ea typeface="Source Han Sans CN"/>
              </a:rPr>
              <a:t>比 PPT 里演的更准。</a:t>
            </a:r>
          </a:p>
        </p:txBody>
      </p:sp>
      <p:pic>
        <p:nvPicPr>
          <p:cNvPr id="7" name="Picture 6" descr="qr-publ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017520"/>
            <a:ext cx="3017520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0" y="603504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E6E73"/>
                </a:solidFill>
                <a:latin typeface="Source Han Sans CN"/>
                <a:ea typeface="Source Han Sans CN"/>
              </a:rPr>
              <a:t>公网 Demo（无需同 WiFi）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D2D2D7"/>
                </a:solidFill>
                <a:latin typeface="Source Han Sans CN"/>
                <a:ea typeface="Source Han Sans CN"/>
              </a:rPr>
              <a:t>谢谢  ·  Q&amp;A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D2D2D7"/>
                </a:solidFill>
                <a:latin typeface="Source Han Sans CN"/>
                <a:ea typeface="Source Han Sans CN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A1628"/>
                </a:solidFill>
                <a:latin typeface="Source Han Sans CN"/>
                <a:ea typeface="Source Han Sans CN"/>
              </a:rPr>
              <a:t>Q&amp;A Backup：评委最常问的 6 个问题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Source Han Sans CN"/>
                <a:ea typeface="Source Han Sans CN"/>
              </a:rPr>
              <a:t>时间紧时只答 P11 前 3 个，Q&amp;A 充分时全部展示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94360" y="1508760"/>
            <a:ext cx="502920" cy="5029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ource Han Sans CN"/>
                <a:ea typeface="Source Han Sans CN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0876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Source Han Sans CN"/>
                <a:ea typeface="Source Han Sans CN"/>
              </a:rPr>
              <a:t>为什么不用 Mem0 / LangChain Memory？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5212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Source Han Sans CN"/>
                <a:ea typeface="Source Han Sans CN"/>
              </a:rPr>
              <a:t>A：他们没有衰减。Ebbinghaus 主题差异化是核心壁垒——Mem0 永远把 30 天前的'你今天想喝什么'和初恋回忆放在同等权重。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371600"/>
            <a:ext cx="5486400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82512" y="150876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5087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ource Han Sans CN"/>
                <a:ea typeface="Source Han Sans CN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50876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Source Han Sans CN"/>
                <a:ea typeface="Source Han Sans CN"/>
              </a:rPr>
              <a:t>用户隐私怎么办？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103120"/>
            <a:ext cx="5212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Source Han Sans CN"/>
                <a:ea typeface="Source Han Sans CN"/>
              </a:rPr>
              <a:t>A：SQLite 本地 + 可选 AES-256；软删除不物理删除，可恢复；数据不出端，GDPR 友好。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54680"/>
            <a:ext cx="5486400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4360" y="3291840"/>
            <a:ext cx="502920" cy="50292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2918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ource Han Sans CN"/>
                <a:ea typeface="Source Han Sans CN"/>
              </a:rP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29184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Source Han Sans CN"/>
                <a:ea typeface="Source Han Sans CN"/>
              </a:rPr>
              <a:t>成本真的这么低吗？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886200"/>
            <a:ext cx="5212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Source Han Sans CN"/>
                <a:ea typeface="Source Han Sans CN"/>
              </a:rPr>
              <a:t>A：100 万 MAU × 10 轮/天 × 3k tokens = 9 亿 token/天 → qwen 约 $10k/月，比全量省 90%。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5352" y="3154680"/>
            <a:ext cx="5486400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3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82512" y="3291840"/>
            <a:ext cx="502920" cy="502920"/>
          </a:xfrm>
          <a:prstGeom prst="ellipse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32918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ource Han Sans CN"/>
                <a:ea typeface="Source Han Sans CN"/>
              </a:rPr>
              <a:t>Q4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329184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Source Han Sans CN"/>
                <a:ea typeface="Source Han Sans CN"/>
              </a:rPr>
              <a:t>竞品 Replika / Character.AI 呢？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3886200"/>
            <a:ext cx="5212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Source Han Sans CN"/>
                <a:ea typeface="Source Han Sans CN"/>
              </a:rPr>
              <a:t>A：他们用全量上下文（贵 10x），我们用衰减 + 摘要。降本 90% 是核心优势——同样效果，成本 1/10，毛利 9 倍。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937760"/>
            <a:ext cx="5486400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94360" y="5074920"/>
            <a:ext cx="502920" cy="5029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0749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ource Han Sans CN"/>
                <a:ea typeface="Source Han Sans CN"/>
              </a:rPr>
              <a:t>Q5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507492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Source Han Sans CN"/>
                <a:ea typeface="Source Han Sans CN"/>
              </a:rPr>
              <a:t>技术壁垒会不会被复制？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669280"/>
            <a:ext cx="5212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Source Han Sans CN"/>
                <a:ea typeface="Source Han Sans CN"/>
              </a:rPr>
              <a:t>A：单点易抄，系统难抄。Ebbinghaus + 自适应摘要 + jiwen 5 轴 + 零模板注入是协同护城河，组合 2 年工程量。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45352" y="4937760"/>
            <a:ext cx="5486400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82512" y="507492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2512" y="50749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ource Han Sans CN"/>
                <a:ea typeface="Source Han Sans CN"/>
              </a:rPr>
              <a:t>Q6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22592" y="507492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Source Han Sans CN"/>
                <a:ea typeface="Source Han Sans CN"/>
              </a:rPr>
              <a:t>怎么冷启动？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5669280"/>
            <a:ext cx="5212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Source Han Sans CN"/>
                <a:ea typeface="Source Han Sans CN"/>
              </a:rPr>
              <a:t>A：游戏 NPC SDK（3-6 月）→ 1-2 个爆款 → 情感陪伴 C 端 → 教育/客服。路径短、付费意愿强。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D2D2D7"/>
                </a:solidFill>
                <a:latin typeface="Source Han Sans CN"/>
                <a:ea typeface="Source Han Sans CN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ource Han Sans CN"/>
                <a:ea typeface="Source Han Sans CN"/>
              </a:rPr>
              <a:t>团队 · 两个人，互补搭档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Source Han Sans CN"/>
                <a:ea typeface="Source Han Sans CN"/>
              </a:rPr>
              <a:t>全栈设计 + 产品 / 市场  ·  6 个月内按需扩到 3-4 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6647" y="1554480"/>
            <a:ext cx="4572000" cy="4114800"/>
          </a:xfrm>
          <a:prstGeom prst="roundRect">
            <a:avLst/>
          </a:prstGeom>
          <a:solidFill>
            <a:srgbClr val="1A1F2E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529687" y="1920240"/>
            <a:ext cx="1645920" cy="1645920"/>
          </a:xfrm>
          <a:prstGeom prst="ellipse">
            <a:avLst/>
          </a:prstGeom>
          <a:solidFill>
            <a:srgbClr val="00D4FF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9687" y="1920240"/>
            <a:ext cx="164592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Source Han Sans CN"/>
                <a:ea typeface="Source Han Sans CN"/>
              </a:rPr>
              <a:t>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087" y="3749040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00D4FF"/>
                </a:solidFill>
                <a:latin typeface="Source Han Sans CN"/>
                <a:ea typeface="Source Han Sans CN"/>
              </a:rPr>
              <a:t>文泓发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087" y="434340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Source Han Sans CN"/>
                <a:ea typeface="Source Han Sans CN"/>
              </a:rPr>
              <a:t>全栈设计 / 技术选型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9527" y="4754880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D2D2D7"/>
                </a:solidFill>
                <a:latin typeface="Source Han Sans CN"/>
                <a:ea typeface="Source Han Sans CN"/>
              </a:rPr>
              <a:t>FastAPI · React · SQLite
jiwen 移植 · 记忆引擎 · 联调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9527" y="534924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00D4FF"/>
                </a:solidFill>
                <a:latin typeface="Source Han Sans CN"/>
                <a:ea typeface="Source Han Sans CN"/>
              </a:rPr>
              <a:t>· 技术合伙人 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53047" y="1554480"/>
            <a:ext cx="4572000" cy="4114800"/>
          </a:xfrm>
          <a:prstGeom prst="roundRect">
            <a:avLst/>
          </a:prstGeom>
          <a:solidFill>
            <a:srgbClr val="1A1F2E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16087" y="1920240"/>
            <a:ext cx="1645920" cy="1645920"/>
          </a:xfrm>
          <a:prstGeom prst="ellipse">
            <a:avLst/>
          </a:prstGeom>
          <a:solidFill>
            <a:srgbClr val="FF6B35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6087" y="1920240"/>
            <a:ext cx="164592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Source Han Sans CN"/>
                <a:ea typeface="Source Han Sans CN"/>
              </a:rPr>
              <a:t>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487" y="3749040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6B35"/>
                </a:solidFill>
                <a:latin typeface="Source Han Sans CN"/>
                <a:ea typeface="Source Han Sans CN"/>
              </a:rPr>
              <a:t>黄天豪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487" y="434340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Source Han Sans CN"/>
                <a:ea typeface="Source Han Sans CN"/>
              </a:rPr>
              <a:t>队长 / 产品 / 市场 / 运营分发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5927" y="4754880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D2D2D7"/>
                </a:solidFill>
                <a:latin typeface="Source Han Sans CN"/>
                <a:ea typeface="Source Han Sans CN"/>
              </a:rPr>
              <a:t>产品方向 · 市场洞察
运营策略 · 渠道分发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534924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F6B35"/>
                </a:solidFill>
                <a:latin typeface="Source Han Sans CN"/>
                <a:ea typeface="Source Han Sans CN"/>
              </a:rPr>
              <a:t>· 队长 / 创始人 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0D4FF"/>
                </a:solidFill>
                <a:latin typeface="Source Han Sans CN"/>
                <a:ea typeface="Source Han Sans CN"/>
              </a:rPr>
              <a:t>"我们正在做 AI 的"长期记忆"基础设施。"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D2D2D7"/>
                </a:solidFill>
                <a:latin typeface="Source Han Sans CN"/>
                <a:ea typeface="Source Han Sans CN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Source Han Sans CN"/>
                <a:ea typeface="Source Han Sans CN"/>
              </a:rPr>
              <a:t>致谢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6931" y="1828800"/>
            <a:ext cx="2651760" cy="3200400"/>
          </a:xfrm>
          <a:prstGeom prst="roundRect">
            <a:avLst/>
          </a:prstGeom>
          <a:solidFill>
            <a:srgbClr val="1A1F2E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9811" y="210312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0D4FF"/>
                </a:solidFill>
                <a:latin typeface="Source Han Sans CN"/>
                <a:ea typeface="Source Han Sans CN"/>
              </a:rPr>
              <a:t>Open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9811" y="2743200"/>
            <a:ext cx="22860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ource Han Sans CN"/>
                <a:ea typeface="Source Han Sans CN"/>
              </a:rPr>
              <a:t>jiwen (ClaraShafiq)
LangChain / Cognee / Mem0 启发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5622" y="1828800"/>
            <a:ext cx="2651760" cy="3200400"/>
          </a:xfrm>
          <a:prstGeom prst="roundRect">
            <a:avLst/>
          </a:prstGeom>
          <a:solidFill>
            <a:srgbClr val="1A1F2E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68502" y="210312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6B35"/>
                </a:solidFill>
                <a:latin typeface="Source Han Sans CN"/>
                <a:ea typeface="Source Han Sans CN"/>
              </a:rPr>
              <a:t>开源工具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68502" y="2743200"/>
            <a:ext cx="22860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ource Han Sans CN"/>
                <a:ea typeface="Source Han Sans CN"/>
              </a:rPr>
              <a:t>FastAPI · React · SQLite
ChromaDB · python-pptx · ffmpeg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313" y="1828800"/>
            <a:ext cx="2651760" cy="3200400"/>
          </a:xfrm>
          <a:prstGeom prst="roundRect">
            <a:avLst/>
          </a:prstGeom>
          <a:solidFill>
            <a:srgbClr val="1A1F2E"/>
          </a:solidFill>
          <a:ln w="25400">
            <a:solidFill>
              <a:srgbClr val="34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193" y="210312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34C759"/>
                </a:solidFill>
                <a:latin typeface="Source Han Sans CN"/>
                <a:ea typeface="Source Han Sans CN"/>
              </a:rPr>
              <a:t>投资人 / 评委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193" y="2743200"/>
            <a:ext cx="22860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ource Han Sans CN"/>
                <a:ea typeface="Source Han Sans CN"/>
              </a:rPr>
              <a:t>感谢您的耐心聆听
欢迎扫码体验 + 邮件联系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23004" y="1828800"/>
            <a:ext cx="2651760" cy="3200400"/>
          </a:xfrm>
          <a:prstGeom prst="roundRect">
            <a:avLst/>
          </a:prstGeom>
          <a:solidFill>
            <a:srgbClr val="1A1F2E"/>
          </a:solidFill>
          <a:ln w="25400">
            <a:solidFill>
              <a:srgbClr val="FF3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05884" y="210312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3B30"/>
                </a:solidFill>
                <a:latin typeface="Source Han Sans CN"/>
                <a:ea typeface="Source Han Sans CN"/>
              </a:rPr>
              <a:t>家庭 / 朋友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05884" y="2743200"/>
            <a:ext cx="22860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ource Han Sans CN"/>
                <a:ea typeface="Source Han Sans CN"/>
              </a:rPr>
              <a:t>感谢深夜调试时的
咖啡与陪伴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486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D4FF"/>
                </a:solidFill>
                <a:latin typeface="Source Han Sans CN"/>
                <a:ea typeface="Source Han Sans CN"/>
              </a:rPr>
              <a:t>我们用 Ebbinghaus 衰减 + 主题自适应摘要，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852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D4FF"/>
                </a:solidFill>
                <a:latin typeface="Source Han Sans CN"/>
                <a:ea typeface="Source Han Sans CN"/>
              </a:rPr>
              <a:t>让 AI 角色 90 天只花 3k tokens/轮，还能记得你去年说过的话。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D2D2D7"/>
                </a:solidFill>
                <a:latin typeface="Source Han Sans CN"/>
                <a:ea typeface="Source Han Sans CN"/>
              </a:rPr>
              <a:t>Thanks for listening  ·  Q &amp;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D2D2D7"/>
                </a:solidFill>
                <a:latin typeface="Source Han Sans CN"/>
                <a:ea typeface="Source Han Sans CN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